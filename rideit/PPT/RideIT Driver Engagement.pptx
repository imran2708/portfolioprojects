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518"/>
    <a:srgbClr val="FFB200"/>
    <a:srgbClr val="09122C"/>
    <a:srgbClr val="2037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5138-0E3C-6039-CEA6-B55D2C32C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C7AAE-24C1-D298-2243-B9CF1E9BA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EE14-7F45-599E-01E3-84764C65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FEC41-855D-904D-8F40-94541983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2A531-65F1-FAD7-C0BD-5D66BF50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06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AEA8-1E82-1B51-CC21-69F76659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8A5AD-5C01-8D54-3EC2-3C587936F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C863D-FD84-22DD-9097-464444D5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0AC9-DCA4-F8AE-8652-90477F4E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45CD-8886-55E0-77C6-53F870CD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3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C732-B926-C451-7AF5-10388822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0CAEA-FFFC-CA78-842A-4789754C6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D128E-A495-690E-D767-0E9129B3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0B78B-01D9-7C93-017E-7C7C9CE8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741A-24A0-184F-5C2D-1570FAB8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61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B79D-FED8-51B2-E0E2-71E302CE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2388F-3073-604D-1A36-15DEC6B41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80F81-0C08-5CAE-B1D4-58F318774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8A268-FCD5-0D9F-3DD0-608449A5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E1319-72F8-6086-397F-58A90A76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72DFF-68D7-B56B-DA22-77D0EEFD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16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DD15-DF67-287B-6891-18C6F91E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02273-C25C-1DF1-ACD4-356664400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4744B-B14F-DD7D-095D-9A61D9780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84AA2-6846-2A7C-1686-4057E0341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2577E-23B5-4B5E-5F0F-173437CF4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98C85-F81C-0D60-54D8-54FDB74F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5DECB-1293-8609-D499-672BE18B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3BBC-03AF-7750-7EC7-82E6BEEF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73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3493-6053-F80C-7214-2E2D76CC7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2D5B7-A3AE-704B-76F3-7F627662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66A6E-8DAC-125A-201A-A7B584D9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693CE-5E2B-10D3-8DEF-556AEB64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6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2F2BB-01F3-B27C-7BBE-E5E766AE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D26BE-5530-E765-5CA8-617F502E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18E32-AA16-2AB9-1270-0141C586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52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D4DB-B1B0-560D-25E1-B05F2CDC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6714-36A1-0070-F6D7-0ED8DA8C9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3E459-A689-678E-705E-5348490BF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815A8-D7EA-F31B-F20F-76531373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8EB4-A58E-174D-1838-D09CBAB1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AF2BC-681C-D55F-6F42-FFB44DA8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591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0BCA-D44D-8E62-D99D-5D3DA31F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F3509-88FF-40E1-C921-0F1965176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7C5F5-029F-2936-7C26-8CDB94E7D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9D219-3CF0-B792-A376-3837B3DE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734F4-9D06-B38A-5721-3401EDEA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7E4DB-94C0-3468-49CA-2D8617BE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82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98E0-197A-5589-E994-B6FFDB9EC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A99C9-C279-82AA-0158-C0513A2DB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60FA5-5D61-DFF4-9EC6-68F3893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B6F54-13BF-6B17-4F38-A1E5F344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55AA6-025C-9B95-F0C5-9DE80276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83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6C3DA-10BF-52F3-453A-1F3C5DBA8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7E33A-765D-6452-E3BF-F51431ED4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B9ED-86C2-7D55-59D3-11E2E4BB0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4BFFF-8C3F-DBC1-8452-AA842D2D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4DFB8-4D79-D5BE-C8D4-9677F23B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4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3BF5B-F94E-ACF8-33B6-6CC88C264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584F4-EB70-99F0-1D97-FB67A7C73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2118-1B88-2BCA-B7A1-D4D958B1E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7DE39-72C9-48D8-A1DC-1C87154382EA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232C7-B127-A8E4-9D94-9D65A9524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56D0-DC9E-82CC-592E-65F635879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D3019-A61C-4511-9BA8-3FBD4ACB99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69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B418ED-3281-115B-A41D-7A43021D4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3D7C1-C8B5-7498-471C-032124D5709D}"/>
              </a:ext>
            </a:extLst>
          </p:cNvPr>
          <p:cNvSpPr/>
          <p:nvPr/>
        </p:nvSpPr>
        <p:spPr>
          <a:xfrm>
            <a:off x="0" y="4376791"/>
            <a:ext cx="12192000" cy="883578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79360E-9DE5-4F46-181E-ED64103AD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9596" y="1597631"/>
            <a:ext cx="7191911" cy="42044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159FC8-55E3-18F4-7F97-F2E00FEE673B}"/>
              </a:ext>
            </a:extLst>
          </p:cNvPr>
          <p:cNvSpPr/>
          <p:nvPr/>
        </p:nvSpPr>
        <p:spPr>
          <a:xfrm>
            <a:off x="4798031" y="914399"/>
            <a:ext cx="6976153" cy="11507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RIDE IT Driver Engagement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AD19F8-4428-104B-CDFD-1B0A16ABFEF9}"/>
              </a:ext>
            </a:extLst>
          </p:cNvPr>
          <p:cNvSpPr/>
          <p:nvPr/>
        </p:nvSpPr>
        <p:spPr>
          <a:xfrm>
            <a:off x="5738116" y="2065104"/>
            <a:ext cx="5522360" cy="5548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&amp; Strategies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350242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C41F-75BE-8C9E-0AFE-C2249AB4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FD892B-4B01-8869-BDDE-2184E62C30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A4E4C-0CB0-3AD8-83C4-106D613D1320}"/>
              </a:ext>
            </a:extLst>
          </p:cNvPr>
          <p:cNvSpPr/>
          <p:nvPr/>
        </p:nvSpPr>
        <p:spPr>
          <a:xfrm>
            <a:off x="0" y="5974422"/>
            <a:ext cx="12192000" cy="883578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E0C26-5590-75BB-AE64-DF9EA8E2EE5A}"/>
              </a:ext>
            </a:extLst>
          </p:cNvPr>
          <p:cNvSpPr txBox="1"/>
          <p:nvPr/>
        </p:nvSpPr>
        <p:spPr>
          <a:xfrm>
            <a:off x="5167901" y="1212351"/>
            <a:ext cx="59692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</a:rPr>
              <a:t>About Us</a:t>
            </a:r>
          </a:p>
          <a:p>
            <a:pPr algn="just"/>
            <a:r>
              <a:rPr lang="en-IN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RIDE IT</a:t>
            </a:r>
            <a:r>
              <a:rPr lang="en-IN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multi-service mobility company. Along with ride-hailing services, </a:t>
            </a:r>
            <a:r>
              <a:rPr lang="en-IN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RIDE IT</a:t>
            </a:r>
            <a:r>
              <a:rPr lang="en-IN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also offers micro-mobility services such as e-scooters, e-bikes, e-Vespas as well as car sharing all under the same app.</a:t>
            </a:r>
            <a:endParaRPr lang="en-IN" sz="2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46277-D0D1-233B-6880-74862EA14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564" y="3974286"/>
            <a:ext cx="5599416" cy="334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7A563-1A9D-1E77-020E-34F1A6B2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BFDDF8-1B3D-BD9C-B72F-ACBBBADB93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538AF-17CC-B176-FF69-03E68BC55DFB}"/>
              </a:ext>
            </a:extLst>
          </p:cNvPr>
          <p:cNvSpPr/>
          <p:nvPr/>
        </p:nvSpPr>
        <p:spPr>
          <a:xfrm>
            <a:off x="0" y="5974422"/>
            <a:ext cx="12192000" cy="883578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A88DF-6785-3838-B476-24905D7896BD}"/>
              </a:ext>
            </a:extLst>
          </p:cNvPr>
          <p:cNvSpPr/>
          <p:nvPr/>
        </p:nvSpPr>
        <p:spPr>
          <a:xfrm>
            <a:off x="0" y="215757"/>
            <a:ext cx="12192000" cy="678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CEE91B-A202-86EC-3E77-86B7CA275B1B}"/>
              </a:ext>
            </a:extLst>
          </p:cNvPr>
          <p:cNvSpPr/>
          <p:nvPr/>
        </p:nvSpPr>
        <p:spPr>
          <a:xfrm>
            <a:off x="128425" y="1119880"/>
            <a:ext cx="8563511" cy="4428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Objective:</a:t>
            </a:r>
            <a:r>
              <a:rPr lang="en-US" sz="2400" dirty="0"/>
              <a:t> Identify key factors driving driver engagement and propose actionable recommendations.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Data Sources:</a:t>
            </a:r>
            <a:r>
              <a:rPr lang="en-US" sz="2400" dirty="0"/>
              <a:t> Cancellation Analysis, Driver Retention, Performance, and Utilization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Key Questions Addressed: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What factors influence better engagement?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Which driver segments perform well, and which need improvement?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What business initiatives or product changes can improve engagement?</a:t>
            </a:r>
          </a:p>
          <a:p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625A22-63CE-168F-4C13-AE26F4DAF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3429000"/>
            <a:ext cx="5143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9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1C1E-F1E4-6B80-8A9F-36A2673A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60C6CD-5170-6DA0-5DAD-1A2CDE497E95}"/>
              </a:ext>
            </a:extLst>
          </p:cNvPr>
          <p:cNvSpPr/>
          <p:nvPr/>
        </p:nvSpPr>
        <p:spPr>
          <a:xfrm>
            <a:off x="0" y="0"/>
            <a:ext cx="12192000" cy="100312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5109AC-1CC2-D6B1-1938-79BE5DAFC0F8}"/>
              </a:ext>
            </a:extLst>
          </p:cNvPr>
          <p:cNvSpPr/>
          <p:nvPr/>
        </p:nvSpPr>
        <p:spPr>
          <a:xfrm>
            <a:off x="0" y="5974422"/>
            <a:ext cx="12192000" cy="1292410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8C537-6628-B9EE-F563-09AC7317E158}"/>
              </a:ext>
            </a:extLst>
          </p:cNvPr>
          <p:cNvSpPr txBox="1"/>
          <p:nvPr/>
        </p:nvSpPr>
        <p:spPr>
          <a:xfrm>
            <a:off x="4643919" y="369869"/>
            <a:ext cx="6739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Findings on Driver Engagement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44CBB-0C9D-74FC-4874-A1B1817ECEA1}"/>
              </a:ext>
            </a:extLst>
          </p:cNvPr>
          <p:cNvSpPr txBox="1"/>
          <p:nvPr/>
        </p:nvSpPr>
        <p:spPr>
          <a:xfrm>
            <a:off x="4530903" y="1335640"/>
            <a:ext cx="74898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High Performer Drivers (842 drivers):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10.1 rides/day</a:t>
            </a:r>
            <a:r>
              <a:rPr lang="en-US" sz="2000" dirty="0">
                <a:solidFill>
                  <a:schemeClr val="bg1"/>
                </a:solidFill>
              </a:rPr>
              <a:t> (highest engagement).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4.91 rating</a:t>
            </a:r>
            <a:r>
              <a:rPr lang="en-US" sz="2000" dirty="0">
                <a:solidFill>
                  <a:schemeClr val="bg1"/>
                </a:solidFill>
              </a:rPr>
              <a:t> (excellent customer feedback).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More gold achievements</a:t>
            </a:r>
            <a:r>
              <a:rPr lang="en-US" sz="2000" dirty="0">
                <a:solidFill>
                  <a:schemeClr val="bg1"/>
                </a:solidFill>
              </a:rPr>
              <a:t> (indicating strong incentives).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Good Performers (3,719 drivers):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6.06 rides/day.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4.90 rating.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Low Performers (32,411 drivers):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1.8 to 3.8 rides/day.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Some drivers have a </a:t>
            </a:r>
            <a:r>
              <a:rPr lang="en-US" sz="2000" b="1" dirty="0">
                <a:solidFill>
                  <a:schemeClr val="bg1"/>
                </a:solidFill>
              </a:rPr>
              <a:t>100% cancellation rate.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3E35EC-01E9-5777-5754-D9D737F76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564" y="3974286"/>
            <a:ext cx="5599416" cy="334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033A-B4DB-985A-E515-2CDCF49E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B8784E-B5AE-58BA-55D8-DAEA23C9DD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6E181-BE78-E1FA-1F15-20BABFD9F291}"/>
              </a:ext>
            </a:extLst>
          </p:cNvPr>
          <p:cNvSpPr/>
          <p:nvPr/>
        </p:nvSpPr>
        <p:spPr>
          <a:xfrm>
            <a:off x="0" y="5974422"/>
            <a:ext cx="12192000" cy="883578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4317DB-B717-E655-AF9E-7FC17F7DE998}"/>
              </a:ext>
            </a:extLst>
          </p:cNvPr>
          <p:cNvSpPr/>
          <p:nvPr/>
        </p:nvSpPr>
        <p:spPr>
          <a:xfrm>
            <a:off x="0" y="215757"/>
            <a:ext cx="12192000" cy="678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400" b="1" dirty="0"/>
              <a:t>Key Factors Affecting Engagement</a:t>
            </a:r>
            <a:endParaRPr lang="en-IN" sz="4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341C4B-819A-968C-563C-09A12AC64A60}"/>
              </a:ext>
            </a:extLst>
          </p:cNvPr>
          <p:cNvSpPr/>
          <p:nvPr/>
        </p:nvSpPr>
        <p:spPr>
          <a:xfrm>
            <a:off x="128425" y="1119880"/>
            <a:ext cx="8563511" cy="4428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+mj-lt"/>
              <a:buAutoNum type="arabicPeriod"/>
            </a:pPr>
            <a:r>
              <a:rPr lang="en-US" sz="2400" b="1" dirty="0"/>
              <a:t>Incentives &amp; Rewards</a:t>
            </a:r>
            <a:r>
              <a:rPr lang="en-US" sz="2400" dirty="0"/>
              <a:t> - High performers engage more due to bonus programs.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Driver Cancellations</a:t>
            </a:r>
            <a:r>
              <a:rPr lang="en-US" sz="2400" dirty="0"/>
              <a:t> - Many drivers cancel every ride but maintain high ratings.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Retention Issues</a:t>
            </a:r>
            <a:r>
              <a:rPr lang="en-US" sz="2400" dirty="0"/>
              <a:t> - Fluctuating retention rates, especially in April (40.06%).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Workload Distribution</a:t>
            </a:r>
            <a:r>
              <a:rPr lang="en-US" sz="2400" dirty="0"/>
              <a:t> - Utilization rates vary significantly, some drivers overloaded.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D4AA9-A904-4283-F70B-633D3B2FF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3429000"/>
            <a:ext cx="5143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5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F429-CF06-C9E2-977D-63825633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B2EF57-4468-FC8A-1620-D4650BB3F9D5}"/>
              </a:ext>
            </a:extLst>
          </p:cNvPr>
          <p:cNvSpPr/>
          <p:nvPr/>
        </p:nvSpPr>
        <p:spPr>
          <a:xfrm>
            <a:off x="0" y="0"/>
            <a:ext cx="12192000" cy="100312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AE044-EECD-C4F9-2838-7F6A66ED40DD}"/>
              </a:ext>
            </a:extLst>
          </p:cNvPr>
          <p:cNvSpPr/>
          <p:nvPr/>
        </p:nvSpPr>
        <p:spPr>
          <a:xfrm>
            <a:off x="0" y="5974422"/>
            <a:ext cx="12192000" cy="1292410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C396B-362B-0F40-D15F-130CC352A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95" y="3429000"/>
            <a:ext cx="6739847" cy="41525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560C75-5B76-319B-8C1A-E04D5DE80725}"/>
              </a:ext>
            </a:extLst>
          </p:cNvPr>
          <p:cNvSpPr/>
          <p:nvPr/>
        </p:nvSpPr>
        <p:spPr>
          <a:xfrm>
            <a:off x="5315163" y="1818527"/>
            <a:ext cx="6739847" cy="27021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+mj-lt"/>
              <a:buAutoNum type="arabicPeriod"/>
            </a:pPr>
            <a:r>
              <a:rPr lang="en-US" b="1" dirty="0"/>
              <a:t>Targeted Incentives for Mid-Tier Drivers:</a:t>
            </a:r>
            <a:endParaRPr lang="en-US" dirty="0"/>
          </a:p>
          <a:p>
            <a:pPr lvl="1"/>
            <a:r>
              <a:rPr lang="en-US" dirty="0"/>
              <a:t>Bonus pay for completing X rides per week.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Flexible Matching System:</a:t>
            </a:r>
            <a:endParaRPr lang="en-US" dirty="0"/>
          </a:p>
          <a:p>
            <a:pPr lvl="1"/>
            <a:r>
              <a:rPr lang="en-US" dirty="0"/>
              <a:t>Allow drivers to pre-select ride types to reduce last-minute cancellations.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Re-Engagement Campaigns:</a:t>
            </a:r>
            <a:endParaRPr lang="en-US" dirty="0"/>
          </a:p>
          <a:p>
            <a:pPr lvl="1"/>
            <a:r>
              <a:rPr lang="en-US" dirty="0"/>
              <a:t>Reactivation bonuses and seasonal incentives.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92AC49-2F4E-398A-A372-48D283F6B363}"/>
              </a:ext>
            </a:extLst>
          </p:cNvPr>
          <p:cNvSpPr/>
          <p:nvPr/>
        </p:nvSpPr>
        <p:spPr>
          <a:xfrm>
            <a:off x="5315162" y="1191802"/>
            <a:ext cx="6739848" cy="626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Business Initiatives for Improvement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99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E60B-BB75-129F-83A7-2A5AC90E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058A84-EFCE-0785-FCB7-85060F824C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11F48-B55E-92FC-9F36-A652A781FBBD}"/>
              </a:ext>
            </a:extLst>
          </p:cNvPr>
          <p:cNvSpPr/>
          <p:nvPr/>
        </p:nvSpPr>
        <p:spPr>
          <a:xfrm>
            <a:off x="0" y="5974422"/>
            <a:ext cx="12192000" cy="883578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3B9C55-8DA9-44DB-1BC4-AE66369DFB09}"/>
              </a:ext>
            </a:extLst>
          </p:cNvPr>
          <p:cNvSpPr/>
          <p:nvPr/>
        </p:nvSpPr>
        <p:spPr>
          <a:xfrm>
            <a:off x="0" y="1602769"/>
            <a:ext cx="12192000" cy="636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Product Improvements for Better Engagement</a:t>
            </a:r>
            <a:endParaRPr lang="en-IN" sz="3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EF7ECB-F2B7-94DA-C23E-D95E119975D9}"/>
              </a:ext>
            </a:extLst>
          </p:cNvPr>
          <p:cNvSpPr/>
          <p:nvPr/>
        </p:nvSpPr>
        <p:spPr>
          <a:xfrm>
            <a:off x="128425" y="1119880"/>
            <a:ext cx="8563511" cy="4428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+mj-lt"/>
              <a:buAutoNum type="arabicPeriod"/>
            </a:pPr>
            <a:r>
              <a:rPr lang="en-US" sz="2000" b="1" dirty="0"/>
              <a:t> Intelligent Ride Allocation:</a:t>
            </a:r>
            <a:endParaRPr lang="en-US" sz="2000" dirty="0"/>
          </a:p>
          <a:p>
            <a:pPr lvl="1"/>
            <a:r>
              <a:rPr lang="en-US" sz="2000" dirty="0"/>
              <a:t>Match drivers based on acceptance </a:t>
            </a:r>
            <a:r>
              <a:rPr lang="en-US" dirty="0"/>
              <a:t>rates</a:t>
            </a:r>
            <a:r>
              <a:rPr lang="en-US" sz="2000" dirty="0"/>
              <a:t> and past reliability.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 Engagement Score Dashboard:</a:t>
            </a:r>
            <a:endParaRPr lang="en-US" sz="2000" dirty="0"/>
          </a:p>
          <a:p>
            <a:pPr lvl="1"/>
            <a:r>
              <a:rPr lang="en-US" sz="2000" dirty="0"/>
              <a:t>Create a system that provides personalized improvement suggestions.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6E68D-35B3-3129-D964-BA34FC239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3429000"/>
            <a:ext cx="5143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14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4020-C3ED-B1B6-2D64-56462DC1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FEF19B-C36C-3C0C-192B-BC775BA3A9C8}"/>
              </a:ext>
            </a:extLst>
          </p:cNvPr>
          <p:cNvSpPr/>
          <p:nvPr/>
        </p:nvSpPr>
        <p:spPr>
          <a:xfrm>
            <a:off x="0" y="0"/>
            <a:ext cx="12192000" cy="100312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6CDDA-D3A6-1804-6729-FE01DFDC02E2}"/>
              </a:ext>
            </a:extLst>
          </p:cNvPr>
          <p:cNvSpPr/>
          <p:nvPr/>
        </p:nvSpPr>
        <p:spPr>
          <a:xfrm>
            <a:off x="0" y="5974422"/>
            <a:ext cx="12192000" cy="1292410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51B24-9F47-3464-5393-7F1A552F0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95" y="3429000"/>
            <a:ext cx="6739847" cy="41525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0BDD76-7C94-D338-2854-BBCD38FB324E}"/>
              </a:ext>
            </a:extLst>
          </p:cNvPr>
          <p:cNvSpPr/>
          <p:nvPr/>
        </p:nvSpPr>
        <p:spPr>
          <a:xfrm>
            <a:off x="5315163" y="1818527"/>
            <a:ext cx="6739847" cy="3082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Increase in Retention Rate:</a:t>
            </a:r>
            <a:r>
              <a:rPr lang="en-US" sz="2000" dirty="0"/>
              <a:t> More drivers staying active longer.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Reduction in Cancellations:</a:t>
            </a:r>
            <a:r>
              <a:rPr lang="en-US" sz="2000" dirty="0"/>
              <a:t> Lower cancellation rate with better ride matching.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Higher Ride Acceptance Rate:</a:t>
            </a:r>
            <a:r>
              <a:rPr lang="en-US" sz="2000" dirty="0"/>
              <a:t> Balanced workload among drivers.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Improved Driver Satisfaction:</a:t>
            </a:r>
            <a:r>
              <a:rPr lang="en-US" sz="2000" dirty="0"/>
              <a:t> Higher earnings and better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Visual:</a:t>
            </a:r>
            <a:r>
              <a:rPr lang="en-US" sz="2000" dirty="0"/>
              <a:t> Line graph tracking engagement improvements over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B0B64-665E-F8A6-176D-5375127A5D16}"/>
              </a:ext>
            </a:extLst>
          </p:cNvPr>
          <p:cNvSpPr/>
          <p:nvPr/>
        </p:nvSpPr>
        <p:spPr>
          <a:xfrm>
            <a:off x="5315162" y="1191802"/>
            <a:ext cx="6739848" cy="626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Expected Outcomes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8048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AEC8-9AA4-47E4-29DF-180741CC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B0866B-E4BB-A9F7-235B-73AE31CEC8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933E0-A687-B9C7-848F-2B830BEA885B}"/>
              </a:ext>
            </a:extLst>
          </p:cNvPr>
          <p:cNvSpPr/>
          <p:nvPr/>
        </p:nvSpPr>
        <p:spPr>
          <a:xfrm>
            <a:off x="0" y="5974422"/>
            <a:ext cx="12192000" cy="883578"/>
          </a:xfrm>
          <a:prstGeom prst="rect">
            <a:avLst/>
          </a:prstGeom>
          <a:solidFill>
            <a:srgbClr val="FBA5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FFABAC-BF90-DD94-545A-BA17730F3165}"/>
              </a:ext>
            </a:extLst>
          </p:cNvPr>
          <p:cNvSpPr/>
          <p:nvPr/>
        </p:nvSpPr>
        <p:spPr>
          <a:xfrm>
            <a:off x="0" y="1602769"/>
            <a:ext cx="12192000" cy="636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Conclusion</a:t>
            </a:r>
            <a:endParaRPr lang="en-IN" sz="3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792487-911B-6CDE-13D9-DB751315D19B}"/>
              </a:ext>
            </a:extLst>
          </p:cNvPr>
          <p:cNvSpPr/>
          <p:nvPr/>
        </p:nvSpPr>
        <p:spPr>
          <a:xfrm>
            <a:off x="128425" y="1119880"/>
            <a:ext cx="8563511" cy="4428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Engagement is driven by incentives, workload balance, and retention efforts.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Implementing structured rewards and smarter ride allocation can enhance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data-driven approach will optimize driver satisfaction and business efficiency.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D918C-01BA-FC8B-36F6-8247DC0E1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3429000"/>
            <a:ext cx="5143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1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402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Imran B</dc:creator>
  <cp:lastModifiedBy>Imran B</cp:lastModifiedBy>
  <cp:revision>2</cp:revision>
  <dcterms:created xsi:type="dcterms:W3CDTF">2025-02-23T10:33:49Z</dcterms:created>
  <dcterms:modified xsi:type="dcterms:W3CDTF">2025-02-23T11:09:28Z</dcterms:modified>
</cp:coreProperties>
</file>